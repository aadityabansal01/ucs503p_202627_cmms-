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CAPSTONE PROJECT  •  UCS503P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Mentorship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6324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CMMS: A Digital Platform for Structured Faculty–Student Mentorship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88620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Thapar Institute of Engineering and Technology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5806440"/>
            <a:ext cx="6035040" cy="0"/>
          </a:xfrm>
          <a:prstGeom prst="line">
            <a:avLst/>
          </a:prstGeom>
          <a:noFill/>
          <a:ln w="12700">
            <a:solidFill>
              <a:srgbClr val="3A4A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598932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Jeelani Asif    </a:t>
            </a:r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UCS503P    </a:t>
            </a:r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680960" y="5029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80960" y="960120"/>
            <a:ext cx="3977640" cy="1783080"/>
          </a:xfrm>
          <a:prstGeom prst="roundRect">
            <a:avLst>
              <a:gd name="adj" fmla="val 4103"/>
            </a:avLst>
          </a:prstGeom>
          <a:solidFill>
            <a:srgbClr val="F5F7FA"/>
          </a:solidFill>
          <a:ln/>
        </p:spPr>
      </p:sp>
      <p:sp>
        <p:nvSpPr>
          <p:cNvPr id="11" name="Shape 9"/>
          <p:cNvSpPr/>
          <p:nvPr/>
        </p:nvSpPr>
        <p:spPr>
          <a:xfrm>
            <a:off x="7863840" y="1161288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863840" y="11612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485632" y="108813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Jessica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485632" y="1344168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1024030761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7863840" y="17647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LEAD &amp; UI/UX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7863840" y="20116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React SPA, 3 role dashboards (Student, Faculty, Admin), design system &amp; accessibility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680960" y="2852928"/>
            <a:ext cx="3977640" cy="1783080"/>
          </a:xfrm>
          <a:prstGeom prst="roundRect">
            <a:avLst>
              <a:gd name="adj" fmla="val 4103"/>
            </a:avLst>
          </a:prstGeom>
          <a:solidFill>
            <a:srgbClr val="F5F7FA"/>
          </a:solidFill>
          <a:ln/>
        </p:spPr>
      </p:sp>
      <p:sp>
        <p:nvSpPr>
          <p:cNvPr id="18" name="Shape 16"/>
          <p:cNvSpPr/>
          <p:nvPr/>
        </p:nvSpPr>
        <p:spPr>
          <a:xfrm>
            <a:off x="7863840" y="3054096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863840" y="30540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485632" y="298094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Aaditya Bansal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485632" y="3236976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1024030768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7863840" y="3657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LEAD &amp; API ARCHITECTURE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390448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 REST APIs, JWT auth, matching engine, conflict-free booking algorithms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680960" y="4745736"/>
            <a:ext cx="3977640" cy="1783080"/>
          </a:xfrm>
          <a:prstGeom prst="roundRect">
            <a:avLst>
              <a:gd name="adj" fmla="val 4103"/>
            </a:avLst>
          </a:prstGeom>
          <a:solidFill>
            <a:srgbClr val="F5F7FA"/>
          </a:solidFill>
          <a:ln/>
        </p:spPr>
      </p:sp>
      <p:sp>
        <p:nvSpPr>
          <p:cNvPr id="25" name="Shape 23"/>
          <p:cNvSpPr/>
          <p:nvPr/>
        </p:nvSpPr>
        <p:spPr>
          <a:xfrm>
            <a:off x="7863840" y="4946904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863840" y="49469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485632" y="48737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Harshveer Singh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485632" y="5129784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1024030776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7863840" y="55504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LEAD &amp; INTEGRATION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7863840" y="5797296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schemas, user &amp; allocation data stores, meeting notes logging &amp; system pilot validation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LANDSCAPE &amp; CHALLENGE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Mentorship Bottleneck in Higher Education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6128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existing ad-hoc email coordination impairs student retention, accountability, and faculty balance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1719072"/>
            <a:ext cx="6601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&amp; Fragmented Coordination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70432" y="2084832"/>
            <a:ext cx="66019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 requests buried under hundreds of ad-hoc student emails</a:t>
            </a:r>
            <a:endParaRPr lang="en-US" sz="1050" dirty="0"/>
          </a:p>
          <a:p>
            <a:pPr marL="177800" indent="-1778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hours often unscheduled, forgotten, or cancelled without notice</a:t>
            </a:r>
            <a:endParaRPr lang="en-US" sz="1050" dirty="0"/>
          </a:p>
          <a:p>
            <a:pPr marL="177800" indent="-1778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calendar sync or real-time availability tracking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70432" y="3319272"/>
            <a:ext cx="6601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Tracking &amp; Accountability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685032"/>
            <a:ext cx="66019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outcomes and discussions are never systematically recorded</a:t>
            </a:r>
            <a:endParaRPr lang="en-US" sz="1050" dirty="0"/>
          </a:p>
          <a:p>
            <a:pPr marL="177800" indent="-1778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heads have zero visibility into mentor–mentee engagement</a:t>
            </a:r>
            <a:endParaRPr lang="en-US" sz="1050" dirty="0"/>
          </a:p>
          <a:p>
            <a:pPr marL="177800" indent="-1778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students needing early intervention are identified too late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93776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937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4919472"/>
            <a:ext cx="6601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Unbalanced Faculty Workloads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70432" y="5285232"/>
            <a:ext cx="66019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popular professors are severely overwhelmed with mentees</a:t>
            </a:r>
            <a:endParaRPr lang="en-US" sz="1050" dirty="0"/>
          </a:p>
          <a:p>
            <a:pPr marL="177800" indent="-1778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faculty members remain underutilized across departments</a:t>
            </a:r>
            <a:endParaRPr lang="en-US" sz="1050" dirty="0"/>
          </a:p>
          <a:p>
            <a:pPr marL="177800" indent="-1778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administrative oversight to monitor or rebalance faculty load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38160" y="1737360"/>
            <a:ext cx="3502152" cy="4681728"/>
          </a:xfrm>
          <a:prstGeom prst="roundRect">
            <a:avLst>
              <a:gd name="adj" fmla="val 2611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12480" y="2011680"/>
            <a:ext cx="2953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CMMS SOLUTION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2304288"/>
            <a:ext cx="2953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Digital Ecosystem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3291840"/>
            <a:ext cx="2953512" cy="2852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ad-hoc email chaos with a unified three-tier web application. Automates student–mentor pairing by department and academic focus, provides automated conflict-free office-hour scheduling, maintains persistent meeting logs, and empowers department administrators with transparent analytics.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OBJECTIVES &amp; FEATURES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Core Pillars of the CMMS Platform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6128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Streamlined end-to-end workflow designed for students, faculty mentors, and academic administrators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993392"/>
            <a:ext cx="548640" cy="457200"/>
          </a:xfrm>
          <a:prstGeom prst="roundRect">
            <a:avLst>
              <a:gd name="adj" fmla="val 16000"/>
            </a:avLst>
          </a:prstGeom>
          <a:solidFill>
            <a:srgbClr val="0EA5E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9933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1993392"/>
            <a:ext cx="422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Allocation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06040"/>
            <a:ext cx="486140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20000"/>
              </a:lnSpc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&amp; focus-area alignment</a:t>
            </a:r>
            <a:endParaRPr lang="en-US" sz="1050" dirty="0"/>
          </a:p>
          <a:p>
            <a:pPr marL="203200" indent="-203200">
              <a:lnSpc>
                <a:spcPct val="120000"/>
              </a:lnSpc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First-available transparent matching</a:t>
            </a:r>
            <a:endParaRPr lang="en-US" sz="1050" dirty="0"/>
          </a:p>
          <a:p>
            <a:pPr marL="203200" indent="-203200">
              <a:lnSpc>
                <a:spcPct val="120000"/>
              </a:lnSpc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workload view with manual rebalance override</a:t>
            </a:r>
            <a:endParaRPr lang="en-US" sz="1050" dirty="0"/>
          </a:p>
          <a:p>
            <a:pPr marL="203200" indent="-203200">
              <a:lnSpc>
                <a:spcPct val="120000"/>
              </a:lnSpc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faculty over-subscription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33008" y="173736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5F7FA"/>
          </a:solidFill>
          <a:ln/>
        </p:spPr>
      </p:sp>
      <p:sp>
        <p:nvSpPr>
          <p:cNvPr id="11" name="Shape 9"/>
          <p:cNvSpPr/>
          <p:nvPr/>
        </p:nvSpPr>
        <p:spPr>
          <a:xfrm>
            <a:off x="6507328" y="1993392"/>
            <a:ext cx="548640" cy="457200"/>
          </a:xfrm>
          <a:prstGeom prst="roundRect">
            <a:avLst>
              <a:gd name="adj" fmla="val 16000"/>
            </a:avLst>
          </a:prstGeom>
          <a:solidFill>
            <a:srgbClr val="14B8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07328" y="19933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193128" y="1993392"/>
            <a:ext cx="422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Conflict-Free Scheduling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07328" y="2606040"/>
            <a:ext cx="486140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20000"/>
              </a:lnSpc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publish office hour slots</a:t>
            </a:r>
            <a:endParaRPr lang="en-US" sz="1050" dirty="0"/>
          </a:p>
          <a:p>
            <a:pPr marL="203200" indent="-203200">
              <a:lnSpc>
                <a:spcPct val="120000"/>
              </a:lnSpc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book in 1-click with calendar view</a:t>
            </a:r>
            <a:endParaRPr lang="en-US" sz="1050" dirty="0"/>
          </a:p>
          <a:p>
            <a:pPr marL="203200" indent="-203200">
              <a:lnSpc>
                <a:spcPct val="120000"/>
              </a:lnSpc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server-side conflict prevention</a:t>
            </a:r>
            <a:endParaRPr lang="en-US" sz="1050" dirty="0"/>
          </a:p>
          <a:p>
            <a:pPr marL="203200" indent="-203200">
              <a:lnSpc>
                <a:spcPct val="120000"/>
              </a:lnSpc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booking log creation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25196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5F7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4507992"/>
            <a:ext cx="548640" cy="457200"/>
          </a:xfrm>
          <a:prstGeom prst="roundRect">
            <a:avLst>
              <a:gd name="adj" fmla="val 16000"/>
            </a:avLst>
          </a:prstGeom>
          <a:solidFill>
            <a:srgbClr val="8B5C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5079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507992"/>
            <a:ext cx="422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Logging &amp; Notes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120640"/>
            <a:ext cx="486140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20000"/>
              </a:lnSpc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Post-meeting summary notes by faculty</a:t>
            </a:r>
            <a:endParaRPr lang="en-US" sz="1050" dirty="0"/>
          </a:p>
          <a:p>
            <a:pPr marL="203200" indent="-203200">
              <a:lnSpc>
                <a:spcPct val="120000"/>
              </a:lnSpc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longitudinal student audit trail</a:t>
            </a:r>
            <a:endParaRPr lang="en-US" sz="1050" dirty="0"/>
          </a:p>
          <a:p>
            <a:pPr marL="203200" indent="-203200">
              <a:lnSpc>
                <a:spcPct val="120000"/>
              </a:lnSpc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privacy: strictly assigned mentor &amp; admin</a:t>
            </a:r>
            <a:endParaRPr lang="en-US" sz="1050" dirty="0"/>
          </a:p>
          <a:p>
            <a:pPr marL="203200" indent="-203200">
              <a:lnSpc>
                <a:spcPct val="120000"/>
              </a:lnSpc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advice from being lost between terms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33008" y="425196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5F7FA"/>
          </a:solidFill>
          <a:ln/>
        </p:spPr>
      </p:sp>
      <p:sp>
        <p:nvSpPr>
          <p:cNvPr id="21" name="Shape 19"/>
          <p:cNvSpPr/>
          <p:nvPr/>
        </p:nvSpPr>
        <p:spPr>
          <a:xfrm>
            <a:off x="6507328" y="4507992"/>
            <a:ext cx="548640" cy="4572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07328" y="45079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193128" y="4507992"/>
            <a:ext cx="422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Role-Tailored Dashboards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507328" y="5120640"/>
            <a:ext cx="486140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20000"/>
              </a:lnSpc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assigned mentor, booking, meeting log</a:t>
            </a:r>
            <a:endParaRPr lang="en-US" sz="1050" dirty="0"/>
          </a:p>
          <a:p>
            <a:pPr marL="203200" indent="-203200">
              <a:lnSpc>
                <a:spcPct val="120000"/>
              </a:lnSpc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Faculty: mentee roster, schedule, note entry</a:t>
            </a:r>
            <a:endParaRPr lang="en-US" sz="1050" dirty="0"/>
          </a:p>
          <a:p>
            <a:pPr marL="203200" indent="-203200">
              <a:lnSpc>
                <a:spcPct val="120000"/>
              </a:lnSpc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dept metrics, completion rate, reassignments</a:t>
            </a:r>
            <a:endParaRPr lang="en-US" sz="1050" dirty="0"/>
          </a:p>
          <a:p>
            <a:pPr marL="203200" indent="-203200">
              <a:lnSpc>
                <a:spcPct val="120000"/>
              </a:lnSpc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Minimalist, zero-clutter interface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DESIGN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MERN Architecture &amp; Data Flow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6128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modular three-tier structure guaranteeing clean separation of concerns, scalability, and security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MERN TECH STACK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2622728" cy="1783080"/>
          </a:xfrm>
          <a:prstGeom prst="roundRect">
            <a:avLst>
              <a:gd name="adj" fmla="val 4103"/>
            </a:avLst>
          </a:prstGeom>
          <a:solidFill>
            <a:srgbClr val="F5F7F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011680"/>
            <a:ext cx="2622728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176272"/>
            <a:ext cx="2256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450592"/>
            <a:ext cx="22569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761488"/>
            <a:ext cx="22569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Page Application offering responsive, lightweight interfaces. Separate customized role views for Students, Faculty, and Administrators with zero client-side lag.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3372536" y="2011680"/>
            <a:ext cx="2622728" cy="1783080"/>
          </a:xfrm>
          <a:prstGeom prst="roundRect">
            <a:avLst>
              <a:gd name="adj" fmla="val 4103"/>
            </a:avLst>
          </a:prstGeom>
          <a:solidFill>
            <a:srgbClr val="F5F7FA"/>
          </a:solidFill>
          <a:ln/>
        </p:spPr>
      </p:sp>
      <p:sp>
        <p:nvSpPr>
          <p:cNvPr id="12" name="Shape 10"/>
          <p:cNvSpPr/>
          <p:nvPr/>
        </p:nvSpPr>
        <p:spPr>
          <a:xfrm>
            <a:off x="3372536" y="2011680"/>
            <a:ext cx="2622728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55416" y="2176272"/>
            <a:ext cx="2256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555416" y="2450592"/>
            <a:ext cx="22569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3555416" y="2761488"/>
            <a:ext cx="22569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micro-services handling stateless authentication (JWT), first-available matching heuristics, automated conflict detection, and meeting log transactions.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6196432" y="2011680"/>
            <a:ext cx="2622728" cy="1783080"/>
          </a:xfrm>
          <a:prstGeom prst="roundRect">
            <a:avLst>
              <a:gd name="adj" fmla="val 4103"/>
            </a:avLst>
          </a:prstGeom>
          <a:solidFill>
            <a:srgbClr val="F5F7FA"/>
          </a:solidFill>
          <a:ln/>
        </p:spPr>
      </p:sp>
      <p:sp>
        <p:nvSpPr>
          <p:cNvPr id="17" name="Shape 15"/>
          <p:cNvSpPr/>
          <p:nvPr/>
        </p:nvSpPr>
        <p:spPr>
          <a:xfrm>
            <a:off x="6196432" y="2011680"/>
            <a:ext cx="2622728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79312" y="2176272"/>
            <a:ext cx="2256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379312" y="2450592"/>
            <a:ext cx="22569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379312" y="2761488"/>
            <a:ext cx="22569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Document-oriented database storing 4 core collections: D1 Users &amp; Profiles, D2 Scheduling &amp; Bookings, D3 Meeting Notes, and D4 Allocation Mappings.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9020327" y="2011680"/>
            <a:ext cx="2622728" cy="1783080"/>
          </a:xfrm>
          <a:prstGeom prst="roundRect">
            <a:avLst>
              <a:gd name="adj" fmla="val 4103"/>
            </a:avLst>
          </a:prstGeom>
          <a:solidFill>
            <a:srgbClr val="F5F7FA"/>
          </a:solidFill>
          <a:ln/>
        </p:spPr>
      </p:sp>
      <p:sp>
        <p:nvSpPr>
          <p:cNvPr id="22" name="Shape 20"/>
          <p:cNvSpPr/>
          <p:nvPr/>
        </p:nvSpPr>
        <p:spPr>
          <a:xfrm>
            <a:off x="9020327" y="2011680"/>
            <a:ext cx="2622728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203207" y="2176272"/>
            <a:ext cx="2256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203207" y="2450592"/>
            <a:ext cx="22569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203207" y="2761488"/>
            <a:ext cx="22569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hosted on Render / Vercel (free tier) with shared GitHub version control. Zero hardware constraints — runs on any standard modern web browser.</a:t>
            </a:r>
            <a:endParaRPr lang="en-US" sz="87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05079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&amp; DESIGN DIAGRAMS (DFD)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370832"/>
            <a:ext cx="2622728" cy="2121408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370832"/>
            <a:ext cx="2622728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31520" y="4517136"/>
            <a:ext cx="2256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Interactions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731520" y="4773168"/>
            <a:ext cx="2256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Use-Case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731520" y="5029200"/>
            <a:ext cx="225696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focus-area declaration, mentor view, booking, meeting history. Faculty: slot publishing, mentee roster, note logging. Admin: workload monitoring, KPIs, reassignment.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372536" y="4370832"/>
            <a:ext cx="2622728" cy="2121408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72536" y="4370832"/>
            <a:ext cx="2622728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3555416" y="4517136"/>
            <a:ext cx="2256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 DFD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3555416" y="4773168"/>
            <a:ext cx="2256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Diagram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3555416" y="5029200"/>
            <a:ext cx="225696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CMMS functions as a centralized hub processing profile info, slot requests, availability schedules, and notes across all 3 user classes with strict boundary isolation.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196432" y="4370832"/>
            <a:ext cx="2622728" cy="2121408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96432" y="4370832"/>
            <a:ext cx="2622728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379312" y="4517136"/>
            <a:ext cx="2256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DFD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6379312" y="4773168"/>
            <a:ext cx="2256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6379312" y="5029200"/>
            <a:ext cx="225696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Decomposed into 4 discrete processes: 1.0 Allocation, 2.0 Scheduling &amp; Booking, 3.0 Meeting Logging, 4.0 Dashboards &amp; Reporting — linked to data stores D1–D4.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9020327" y="4370832"/>
            <a:ext cx="2622728" cy="2121408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020327" y="4370832"/>
            <a:ext cx="2622728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9203207" y="4517136"/>
            <a:ext cx="2256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9203207" y="4773168"/>
            <a:ext cx="2256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Flow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9203207" y="5029200"/>
            <a:ext cx="225696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Sub-process validates conflict-free slots in real-time, locks time intervals to prevent double-booking, and returns immediate confirmation alerts.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EXECUTION &amp; VALIDATION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Feasibility, Testing Metrics &amp; 12-Week Roadmap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6128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 verification criteria and an agile, modular delivery plan ensuring on-time project completion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VALIDATION CRITERIA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993392"/>
            <a:ext cx="3564026" cy="868680"/>
          </a:xfrm>
          <a:prstGeom prst="roundRect">
            <a:avLst>
              <a:gd name="adj" fmla="val 7368"/>
            </a:avLst>
          </a:prstGeom>
          <a:solidFill>
            <a:srgbClr val="F5F7FA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2157984"/>
            <a:ext cx="256032" cy="25603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21579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084832"/>
            <a:ext cx="292394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Feasibility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2404872"/>
            <a:ext cx="324398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possesses proven hands-on MERN expertise; mature open-source ecosystem eliminates tooling risk.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313834" y="1993392"/>
            <a:ext cx="3564026" cy="868680"/>
          </a:xfrm>
          <a:prstGeom prst="roundRect">
            <a:avLst>
              <a:gd name="adj" fmla="val 7368"/>
            </a:avLst>
          </a:prstGeom>
          <a:solidFill>
            <a:srgbClr val="F5F7FA"/>
          </a:solidFill>
          <a:ln/>
        </p:spPr>
      </p:sp>
      <p:sp>
        <p:nvSpPr>
          <p:cNvPr id="12" name="Shape 10"/>
          <p:cNvSpPr/>
          <p:nvPr/>
        </p:nvSpPr>
        <p:spPr>
          <a:xfrm>
            <a:off x="4478426" y="2157984"/>
            <a:ext cx="256032" cy="25603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78426" y="21579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816754" y="2084832"/>
            <a:ext cx="292394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Feasibility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478426" y="2404872"/>
            <a:ext cx="324398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Digitizes existing university practices rather than forcing a foreign paradigm; zero user learning curve.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079029" y="1993392"/>
            <a:ext cx="3564026" cy="868680"/>
          </a:xfrm>
          <a:prstGeom prst="roundRect">
            <a:avLst>
              <a:gd name="adj" fmla="val 7368"/>
            </a:avLst>
          </a:prstGeom>
          <a:solidFill>
            <a:srgbClr val="F5F7FA"/>
          </a:solidFill>
          <a:ln/>
        </p:spPr>
      </p:sp>
      <p:sp>
        <p:nvSpPr>
          <p:cNvPr id="17" name="Shape 15"/>
          <p:cNvSpPr/>
          <p:nvPr/>
        </p:nvSpPr>
        <p:spPr>
          <a:xfrm>
            <a:off x="8243621" y="2157984"/>
            <a:ext cx="256032" cy="25603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43621" y="21579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581949" y="2084832"/>
            <a:ext cx="292394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Feasibility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243621" y="2404872"/>
            <a:ext cx="324398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budget requirement — 100% hosted on free-tier cloud providers (MongoDB Atlas, Vercel/Render).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48640" y="3008376"/>
            <a:ext cx="3564026" cy="868680"/>
          </a:xfrm>
          <a:prstGeom prst="roundRect">
            <a:avLst>
              <a:gd name="adj" fmla="val 7368"/>
            </a:avLst>
          </a:prstGeom>
          <a:solidFill>
            <a:srgbClr val="F5F7FA"/>
          </a:solidFill>
          <a:ln/>
        </p:spPr>
      </p:sp>
      <p:sp>
        <p:nvSpPr>
          <p:cNvPr id="22" name="Shape 20"/>
          <p:cNvSpPr/>
          <p:nvPr/>
        </p:nvSpPr>
        <p:spPr>
          <a:xfrm>
            <a:off x="713232" y="3172968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3232" y="31729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" y="3099816"/>
            <a:ext cx="292394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Correctness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13232" y="3419856"/>
            <a:ext cx="324398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verification that students are strictly paired with mentors within their department &amp; domain.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313834" y="3008376"/>
            <a:ext cx="3564026" cy="868680"/>
          </a:xfrm>
          <a:prstGeom prst="roundRect">
            <a:avLst>
              <a:gd name="adj" fmla="val 7368"/>
            </a:avLst>
          </a:prstGeom>
          <a:solidFill>
            <a:srgbClr val="F5F7FA"/>
          </a:solidFill>
          <a:ln/>
        </p:spPr>
      </p:sp>
      <p:sp>
        <p:nvSpPr>
          <p:cNvPr id="27" name="Shape 25"/>
          <p:cNvSpPr/>
          <p:nvPr/>
        </p:nvSpPr>
        <p:spPr>
          <a:xfrm>
            <a:off x="4478426" y="3172968"/>
            <a:ext cx="256032" cy="25603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478426" y="31729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816754" y="3099816"/>
            <a:ext cx="292394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Completion Rate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478426" y="3419856"/>
            <a:ext cx="324398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metric comparing scheduled bookings vs. validated logged sessions held.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079029" y="3008376"/>
            <a:ext cx="3564026" cy="868680"/>
          </a:xfrm>
          <a:prstGeom prst="roundRect">
            <a:avLst>
              <a:gd name="adj" fmla="val 7368"/>
            </a:avLst>
          </a:prstGeom>
          <a:solidFill>
            <a:srgbClr val="F5F7FA"/>
          </a:solidFill>
          <a:ln/>
        </p:spPr>
      </p:sp>
      <p:sp>
        <p:nvSpPr>
          <p:cNvPr id="32" name="Shape 30"/>
          <p:cNvSpPr/>
          <p:nvPr/>
        </p:nvSpPr>
        <p:spPr>
          <a:xfrm>
            <a:off x="8243621" y="3172968"/>
            <a:ext cx="256032" cy="25603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243621" y="31729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581949" y="3099816"/>
            <a:ext cx="292394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User Satisfaction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243621" y="3419856"/>
            <a:ext cx="324398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Post-pilot 1–5 Likert survey targeting ease of use, time saved, and communication clarity.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4059936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12-WEEK IMPLEMENTATION TIMELINE &amp; DELIVERABLES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5294376"/>
            <a:ext cx="11094415" cy="0"/>
          </a:xfrm>
          <a:prstGeom prst="line">
            <a:avLst/>
          </a:prstGeom>
          <a:noFill/>
          <a:ln w="25400">
            <a:solidFill>
              <a:srgbClr val="D8DCE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81735" y="5202936"/>
            <a:ext cx="182880" cy="182880"/>
          </a:xfrm>
          <a:prstGeom prst="ellipse">
            <a:avLst/>
          </a:prstGeom>
          <a:solidFill>
            <a:srgbClr val="0EA5E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17220" y="4242816"/>
            <a:ext cx="171190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617220" y="4453128"/>
            <a:ext cx="171190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Schema Design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617220" y="4837176"/>
            <a:ext cx="171190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specs, ER diagrams, repo setup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473175" y="5202936"/>
            <a:ext cx="0" cy="91440"/>
          </a:xfrm>
          <a:prstGeom prst="line">
            <a:avLst/>
          </a:prstGeom>
          <a:noFill/>
          <a:ln w="12700">
            <a:solidFill>
              <a:srgbClr val="D8DCE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30804" y="5202936"/>
            <a:ext cx="182880" cy="182880"/>
          </a:xfrm>
          <a:prstGeom prst="ellipse">
            <a:avLst/>
          </a:prstGeom>
          <a:solidFill>
            <a:srgbClr val="14B8A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322244" y="5294376"/>
            <a:ext cx="0" cy="91440"/>
          </a:xfrm>
          <a:prstGeom prst="line">
            <a:avLst/>
          </a:prstGeom>
          <a:noFill/>
          <a:ln w="12700">
            <a:solidFill>
              <a:srgbClr val="D8DCE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466289" y="5431536"/>
            <a:ext cx="171190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3–5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2466289" y="5641848"/>
            <a:ext cx="171190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Allocation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2466289" y="6025896"/>
            <a:ext cx="171190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secure auth, student-mentor matching engine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079873" y="5202936"/>
            <a:ext cx="182880" cy="182880"/>
          </a:xfrm>
          <a:prstGeom prst="ellipse">
            <a:avLst/>
          </a:prstGeom>
          <a:solidFill>
            <a:srgbClr val="8B5CF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315358" y="4242816"/>
            <a:ext cx="171190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6–8</a:t>
            </a:r>
            <a:endParaRPr lang="en-US" sz="850" dirty="0"/>
          </a:p>
        </p:txBody>
      </p:sp>
      <p:sp>
        <p:nvSpPr>
          <p:cNvPr id="50" name="Text 48"/>
          <p:cNvSpPr txBox="1"/>
          <p:nvPr/>
        </p:nvSpPr>
        <p:spPr>
          <a:xfrm>
            <a:off x="4315358" y="4453128"/>
            <a:ext cx="171190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&amp; Meeting Notes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4315358" y="4837176"/>
            <a:ext cx="171190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hour calendar, booking conflict engine, logs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171313" y="5202936"/>
            <a:ext cx="0" cy="91440"/>
          </a:xfrm>
          <a:prstGeom prst="line">
            <a:avLst/>
          </a:prstGeom>
          <a:noFill/>
          <a:ln w="12700">
            <a:solidFill>
              <a:srgbClr val="D8DCE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928942" y="5202936"/>
            <a:ext cx="182880" cy="18288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020382" y="5294376"/>
            <a:ext cx="0" cy="91440"/>
          </a:xfrm>
          <a:prstGeom prst="line">
            <a:avLst/>
          </a:prstGeom>
          <a:noFill/>
          <a:ln w="12700">
            <a:solidFill>
              <a:srgbClr val="D8DCE6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164428" y="5431536"/>
            <a:ext cx="171190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9–10</a:t>
            </a:r>
            <a:endParaRPr lang="en-US" sz="850" dirty="0"/>
          </a:p>
        </p:txBody>
      </p:sp>
      <p:sp>
        <p:nvSpPr>
          <p:cNvPr id="56" name="Text 54"/>
          <p:cNvSpPr txBox="1"/>
          <p:nvPr/>
        </p:nvSpPr>
        <p:spPr>
          <a:xfrm>
            <a:off x="6164428" y="5641848"/>
            <a:ext cx="171190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&amp; Integration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6164428" y="6025896"/>
            <a:ext cx="171190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React UI for Student, Faculty &amp; Admin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8778011" y="5202936"/>
            <a:ext cx="182880" cy="182880"/>
          </a:xfrm>
          <a:prstGeom prst="ellipse">
            <a:avLst/>
          </a:prstGeom>
          <a:solidFill>
            <a:srgbClr val="0EA5E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8013497" y="4242816"/>
            <a:ext cx="171190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</a:t>
            </a:r>
            <a:endParaRPr lang="en-US" sz="850" dirty="0"/>
          </a:p>
        </p:txBody>
      </p:sp>
      <p:sp>
        <p:nvSpPr>
          <p:cNvPr id="60" name="Text 58"/>
          <p:cNvSpPr txBox="1"/>
          <p:nvPr/>
        </p:nvSpPr>
        <p:spPr>
          <a:xfrm>
            <a:off x="8013497" y="4453128"/>
            <a:ext cx="171190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Testing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8013497" y="4837176"/>
            <a:ext cx="171190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pilot group in CSE Dept, feedback collection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8869451" y="5202936"/>
            <a:ext cx="0" cy="91440"/>
          </a:xfrm>
          <a:prstGeom prst="line">
            <a:avLst/>
          </a:prstGeom>
          <a:noFill/>
          <a:ln w="12700">
            <a:solidFill>
              <a:srgbClr val="D8DCE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627081" y="5202936"/>
            <a:ext cx="182880" cy="182880"/>
          </a:xfrm>
          <a:prstGeom prst="ellipse">
            <a:avLst/>
          </a:prstGeom>
          <a:solidFill>
            <a:srgbClr val="14B8A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718521" y="5294376"/>
            <a:ext cx="0" cy="91440"/>
          </a:xfrm>
          <a:prstGeom prst="line">
            <a:avLst/>
          </a:prstGeom>
          <a:noFill/>
          <a:ln w="12700">
            <a:solidFill>
              <a:srgbClr val="D8DCE6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9862566" y="5431536"/>
            <a:ext cx="171190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</a:t>
            </a:r>
            <a:endParaRPr lang="en-US" sz="850" dirty="0"/>
          </a:p>
        </p:txBody>
      </p:sp>
      <p:sp>
        <p:nvSpPr>
          <p:cNvPr id="66" name="Text 64"/>
          <p:cNvSpPr txBox="1"/>
          <p:nvPr/>
        </p:nvSpPr>
        <p:spPr>
          <a:xfrm>
            <a:off x="9862566" y="5641848"/>
            <a:ext cx="171190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&amp; Final Report</a:t>
            </a:r>
            <a:endParaRPr lang="en-US" sz="900" dirty="0"/>
          </a:p>
        </p:txBody>
      </p:sp>
      <p:sp>
        <p:nvSpPr>
          <p:cNvPr id="67" name="Text 65"/>
          <p:cNvSpPr txBox="1"/>
          <p:nvPr/>
        </p:nvSpPr>
        <p:spPr>
          <a:xfrm>
            <a:off x="9862566" y="6025896"/>
            <a:ext cx="171190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incorporation, documentation, demo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2026-09-14T18:47:36Z</dcterms:created>
  <dcterms:modified xsi:type="dcterms:W3CDTF">2026-09-14T18:47:36Z</dcterms:modified>
</cp:coreProperties>
</file>